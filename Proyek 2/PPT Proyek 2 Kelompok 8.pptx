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ITC Avant Garde Gothic" charset="1" panose="020B0502020202020204"/>
      <p:regular r:id="rId22"/>
    </p:embeddedFont>
    <p:embeddedFont>
      <p:font typeface="Libre Baskerville Bold" charset="1" panose="02000000000000000000"/>
      <p:regular r:id="rId23"/>
    </p:embeddedFont>
    <p:embeddedFont>
      <p:font typeface="TT Fors" charset="1" panose="020B0003030001020000"/>
      <p:regular r:id="rId24"/>
    </p:embeddedFont>
    <p:embeddedFont>
      <p:font typeface="TT Fors Bold" charset="1" panose="020B000303000102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17317"/>
            <a:ext cx="18288000" cy="7069683"/>
            <a:chOff x="0" y="0"/>
            <a:chExt cx="210256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2568" cy="812800"/>
            </a:xfrm>
            <a:custGeom>
              <a:avLst/>
              <a:gdLst/>
              <a:ahLst/>
              <a:cxnLst/>
              <a:rect r="r" b="b" t="t" l="l"/>
              <a:pathLst>
                <a:path h="812800" w="2102568">
                  <a:moveTo>
                    <a:pt x="9737" y="0"/>
                  </a:moveTo>
                  <a:lnTo>
                    <a:pt x="2092831" y="0"/>
                  </a:lnTo>
                  <a:cubicBezTo>
                    <a:pt x="2095413" y="0"/>
                    <a:pt x="2097890" y="1026"/>
                    <a:pt x="2099716" y="2852"/>
                  </a:cubicBezTo>
                  <a:cubicBezTo>
                    <a:pt x="2101542" y="4678"/>
                    <a:pt x="2102568" y="7154"/>
                    <a:pt x="2102568" y="9737"/>
                  </a:cubicBezTo>
                  <a:lnTo>
                    <a:pt x="2102568" y="803063"/>
                  </a:lnTo>
                  <a:cubicBezTo>
                    <a:pt x="2102568" y="808441"/>
                    <a:pt x="2098208" y="812800"/>
                    <a:pt x="2092831" y="812800"/>
                  </a:cubicBezTo>
                  <a:lnTo>
                    <a:pt x="9737" y="812800"/>
                  </a:lnTo>
                  <a:cubicBezTo>
                    <a:pt x="4359" y="812800"/>
                    <a:pt x="0" y="808441"/>
                    <a:pt x="0" y="803063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9341" r="0" b="-7934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-9525"/>
            <a:ext cx="18490365" cy="479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10"/>
              </a:lnSpc>
            </a:pPr>
            <a:r>
              <a:rPr lang="en-US" sz="6310" spc="-189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RANCANG BANGUN SISTEM LAYANANPUBLIK BERBASIS DIGITAL DIDESA LOHBENER</a:t>
            </a:r>
          </a:p>
          <a:p>
            <a:pPr algn="ctr" marL="0" indent="0" lvl="0">
              <a:lnSpc>
                <a:spcPts val="6310"/>
              </a:lnSpc>
            </a:pPr>
          </a:p>
          <a:p>
            <a:pPr algn="ctr" marL="0" indent="0" lvl="0">
              <a:lnSpc>
                <a:spcPts val="5010"/>
              </a:lnSpc>
            </a:pPr>
            <a:r>
              <a:rPr lang="en-US" sz="5010" spc="-150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Kelompok 8</a:t>
            </a:r>
          </a:p>
          <a:p>
            <a:pPr algn="ctr" marL="0" indent="0" lvl="0">
              <a:lnSpc>
                <a:spcPts val="6310"/>
              </a:lnSpc>
            </a:pPr>
          </a:p>
          <a:p>
            <a:pPr algn="ctr" marL="0" indent="0" lvl="0">
              <a:lnSpc>
                <a:spcPts val="631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C8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2905" y="782705"/>
            <a:ext cx="5404916" cy="5062232"/>
            <a:chOff x="0" y="0"/>
            <a:chExt cx="7206555" cy="674964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472" r="0" b="28282"/>
            <a:stretch>
              <a:fillRect/>
            </a:stretch>
          </p:blipFill>
          <p:spPr>
            <a:xfrm flipH="false" flipV="false">
              <a:off x="0" y="0"/>
              <a:ext cx="7206555" cy="674964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6519114" y="2866146"/>
            <a:ext cx="5432612" cy="4862749"/>
            <a:chOff x="0" y="0"/>
            <a:chExt cx="7243483" cy="6483666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5543" r="0" b="27323"/>
            <a:stretch>
              <a:fillRect/>
            </a:stretch>
          </p:blipFill>
          <p:spPr>
            <a:xfrm flipH="false" flipV="false">
              <a:off x="0" y="0"/>
              <a:ext cx="7243483" cy="6483666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3152643" y="5336414"/>
            <a:ext cx="4806745" cy="4594463"/>
            <a:chOff x="0" y="0"/>
            <a:chExt cx="6408993" cy="612595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0" t="23675" r="0" b="22797"/>
            <a:stretch>
              <a:fillRect/>
            </a:stretch>
          </p:blipFill>
          <p:spPr>
            <a:xfrm flipH="false" flipV="false">
              <a:off x="0" y="0"/>
              <a:ext cx="6408993" cy="6125950"/>
            </a:xfrm>
            <a:prstGeom prst="rect">
              <a:avLst/>
            </a:prstGeom>
          </p:spPr>
        </p:pic>
      </p:grpSp>
      <p:sp>
        <p:nvSpPr>
          <p:cNvPr name="TextBox 8" id="8"/>
          <p:cNvSpPr txBox="true"/>
          <p:nvPr/>
        </p:nvSpPr>
        <p:spPr>
          <a:xfrm rot="0">
            <a:off x="730951" y="6224038"/>
            <a:ext cx="4708825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SITI SA'ADAH </a:t>
            </a:r>
          </a:p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2403001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39775" y="8119420"/>
            <a:ext cx="7998434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AZLIN NIKEN OKTIVANI </a:t>
            </a:r>
          </a:p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2403013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9800" y="4128486"/>
            <a:ext cx="6237725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AHMAD KHAERUZ ZAMAN</a:t>
            </a:r>
          </a:p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20202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2403043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7153" y="0"/>
            <a:ext cx="10960847" cy="10287000"/>
            <a:chOff x="0" y="0"/>
            <a:chExt cx="169812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8122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98122">
                  <a:moveTo>
                    <a:pt x="0" y="0"/>
                  </a:moveTo>
                  <a:lnTo>
                    <a:pt x="1698122" y="0"/>
                  </a:lnTo>
                  <a:lnTo>
                    <a:pt x="169812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275" r="0" b="-32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60935" y="8937179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8707980" cy="8055585"/>
            <a:chOff x="0" y="0"/>
            <a:chExt cx="11610640" cy="10740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1610640" cy="2915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0"/>
                </a:lnSpc>
                <a:spcBef>
                  <a:spcPct val="0"/>
                </a:spcBef>
              </a:pPr>
              <a:r>
                <a:rPr lang="en-US" sz="7800" spc="-23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Progres Layanan Publik Digital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990768"/>
              <a:ext cx="8628996" cy="4750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8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Proyek ini bertujuan untuk </a:t>
              </a:r>
              <a:r>
                <a:rPr lang="en-US" b="true" sz="2899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menggantikan proses manual</a:t>
              </a:r>
              <a:r>
                <a:rPr lang="en-US" sz="28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dengan sistem layanan publik berbasis digital yang lebih efisien dan mudah diakses untuk warga Desa Lohbener, meningkatkan transparansi dan kepuasan masyarakat.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523828"/>
              <a:ext cx="10119818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59"/>
                </a:lnSpc>
                <a:spcBef>
                  <a:spcPct val="0"/>
                </a:spcBef>
              </a:pPr>
              <a:r>
                <a:rPr lang="en-US" sz="4799" spc="-143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Pengembangan Sistem di Lohbener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97560" y="0"/>
            <a:ext cx="7790440" cy="10075539"/>
            <a:chOff x="0" y="0"/>
            <a:chExt cx="922931" cy="1193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931" cy="1193646"/>
            </a:xfrm>
            <a:custGeom>
              <a:avLst/>
              <a:gdLst/>
              <a:ahLst/>
              <a:cxnLst/>
              <a:rect r="r" b="b" t="t" l="l"/>
              <a:pathLst>
                <a:path h="1193646" w="922931">
                  <a:moveTo>
                    <a:pt x="0" y="0"/>
                  </a:moveTo>
                  <a:lnTo>
                    <a:pt x="922931" y="0"/>
                  </a:lnTo>
                  <a:lnTo>
                    <a:pt x="922931" y="1193646"/>
                  </a:lnTo>
                  <a:lnTo>
                    <a:pt x="0" y="1193646"/>
                  </a:lnTo>
                  <a:close/>
                </a:path>
              </a:pathLst>
            </a:custGeom>
            <a:blipFill>
              <a:blip r:embed="rId2"/>
              <a:stretch>
                <a:fillRect l="0" t="-536" r="0" b="-5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7871452"/>
            <a:chOff x="0" y="0"/>
            <a:chExt cx="11099800" cy="1049526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099800" cy="3493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99"/>
                </a:lnSpc>
                <a:spcBef>
                  <a:spcPct val="0"/>
                </a:spcBef>
              </a:pPr>
              <a:r>
                <a:rPr lang="en-US" sz="9399" spc="-281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Transformasi Layanan Publik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16151"/>
              <a:ext cx="11099800" cy="1022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19"/>
                </a:lnSpc>
                <a:spcBef>
                  <a:spcPct val="0"/>
                </a:spcBef>
              </a:pPr>
              <a:r>
                <a:rPr lang="en-US" sz="4599" spc="-137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Menuju Sistem Digital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03651"/>
              <a:ext cx="9182100" cy="4891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9"/>
                </a:lnSpc>
              </a:pPr>
              <a:r>
                <a:rPr lang="en-US" sz="34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Proyek ini bertujuan untuk </a:t>
              </a:r>
              <a:r>
                <a:rPr lang="en-US" b="true" sz="3499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menggantikan proses manual</a:t>
              </a:r>
              <a:r>
                <a:rPr lang="en-US" sz="34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layanan publik dengan sistem digital yang meningkatkan efisiensi dan aksesibilitas bagi warga Desa Lohbener.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8533145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2614849"/>
            <a:chOff x="0" y="0"/>
            <a:chExt cx="5346700" cy="34864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78553"/>
              <a:ext cx="5346700" cy="2407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1"/>
                </a:lnSpc>
              </a:pP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Sistem ini memungkinkan </a:t>
              </a:r>
              <a:r>
                <a:rPr lang="en-US" b="true" sz="1743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pengajuan surat secara online</a:t>
              </a: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, meningkatkan efisiensi bagi warga desa yang tidak perlu datang ke kantor pemerintah untuk mengurus surat, menghemat waktu dan biaya perjalanan.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5346700" cy="53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9" spc="-6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Pengajuan Surat Online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2919649"/>
            <a:chOff x="0" y="0"/>
            <a:chExt cx="5346700" cy="389286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78553"/>
              <a:ext cx="5346700" cy="2814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1"/>
                </a:lnSpc>
              </a:pP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Masyarakat akan mendapatkan </a:t>
              </a:r>
              <a:r>
                <a:rPr lang="en-US" b="true" sz="1743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akses informasi yang lebih baik</a:t>
              </a: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melalui sistem, dengan data dan layanan yang jelas. Hal ini menciptakan transparansi dan memudahkan warga dalam memahami prosedur layanan publik.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5346700" cy="53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9" spc="-6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Transparansi Informasi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2614849"/>
            <a:chOff x="0" y="0"/>
            <a:chExt cx="5346700" cy="3486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78553"/>
              <a:ext cx="5346700" cy="2407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41"/>
                </a:lnSpc>
              </a:pP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Dengan digitalisasi, </a:t>
              </a:r>
              <a:r>
                <a:rPr lang="en-US" b="true" sz="1743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beban administrasi manual</a:t>
              </a:r>
              <a:r>
                <a:rPr lang="en-US" sz="1743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pegawai desa berkurang, sehingga mereka bisa fokus pada tugas yang lebih penting, meningkatkan produktivitas, dan kualitas layanan kepada masyarakat.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5346700" cy="530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9" spc="-6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Mengurangi Beban Administrasi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Tujuan Proyek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Memudahkan Layanan Publik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698115"/>
            <a:chOff x="0" y="0"/>
            <a:chExt cx="3429000" cy="35974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4007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Peningkatan kepuasan masyarakat melalui layanan yang lebih cepat dan mudah.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6038850"/>
            <a:ext cx="2571750" cy="2326640"/>
            <a:chOff x="0" y="0"/>
            <a:chExt cx="3429000" cy="31021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Pengurangan beban administratif pegawai desa dengan sistem otomatisasi.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2571750" cy="2326640"/>
            <a:chOff x="0" y="0"/>
            <a:chExt cx="3429000" cy="31021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Transparansi data yang lebih baik untuk masyarakat dan pemerintah desa.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038850"/>
            <a:ext cx="2571750" cy="2326640"/>
            <a:chOff x="0" y="0"/>
            <a:chExt cx="3429000" cy="310218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4007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Proses pengajuan yang lebih efisien dan tanpa antrean panjang.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Manfaat Proyek Digital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981575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96400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1122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Proses manual yang ada saat ini menyebabkan antrean panjang dan waktu tunggu yang lama, mengakibatkan ketidakpuasan bagi warga yang ingin mendapatkan layanan dengan cepat dan efisien.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Proses Manual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Banyak warga yang kesulitan mengurus surat-surat resmi jika mereka sibuk atau berada jauh dari kantor desa, sehingga memperlambat akses terhadap layanan publik yang dibutuhkan.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Kesulitan Warga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442335"/>
            <a:chOff x="0" y="0"/>
            <a:chExt cx="5346700" cy="4589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Adanya kebutuhan mendesak untuk sistem registrasi dan pengajuan online agar proses menjadi lebih efisien, transparan, dan mudah diakses oleh seluruh warga desa di Lohbener.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Kebutuhan Sistem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Identifikasi Masalah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Tantangan dalam Layanan Publik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00625" y="4998156"/>
            <a:ext cx="14907864" cy="0"/>
          </a:xfrm>
          <a:prstGeom prst="line">
            <a:avLst/>
          </a:prstGeom>
          <a:ln cap="flat" w="19050">
            <a:solidFill>
              <a:srgbClr val="1A3A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676775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991600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06425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Metodologi Pengembangan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6775" y="3724275"/>
            <a:ext cx="31813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Perencanaan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76775" y="5350581"/>
            <a:ext cx="318135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umpulkan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syaratan dan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men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ru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kup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pro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 un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pe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laksanaan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yang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efe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ti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1600" y="3724275"/>
            <a:ext cx="31813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Analisa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1600" y="5683956"/>
            <a:ext cx="318135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enge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valua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butuh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tant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meng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inform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des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in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 fun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gs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ionalit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as sistem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6425" y="3724275"/>
            <a:ext cx="31813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6425" y="5845881"/>
            <a:ext cx="3952875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bu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kera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j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an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artarm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ka 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ngguna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uk 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ast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ikan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en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galaman pengg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na yang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 intuiti</a:t>
            </a: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51414" y="3051970"/>
            <a:ext cx="9330390" cy="5673557"/>
          </a:xfrm>
          <a:custGeom>
            <a:avLst/>
            <a:gdLst/>
            <a:ahLst/>
            <a:cxnLst/>
            <a:rect r="r" b="b" t="t" l="l"/>
            <a:pathLst>
              <a:path h="5673557" w="9330390">
                <a:moveTo>
                  <a:pt x="0" y="0"/>
                </a:moveTo>
                <a:lnTo>
                  <a:pt x="9330390" y="0"/>
                </a:lnTo>
                <a:lnTo>
                  <a:pt x="9330390" y="5673557"/>
                </a:lnTo>
                <a:lnTo>
                  <a:pt x="0" y="567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8324850" cy="4061460"/>
            <a:chOff x="0" y="0"/>
            <a:chExt cx="11099800" cy="54152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4A89D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ERD Sistem Digital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685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A89D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Hubungan Data Pengguna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4671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4A89DC"/>
                  </a:solidFill>
                  <a:latin typeface="TT Fors"/>
                  <a:ea typeface="TT Fors"/>
                  <a:cs typeface="TT Fors"/>
                  <a:sym typeface="TT Fors"/>
                </a:rPr>
                <a:t>Diagram ERD ini menunjukkan hubungan antara User, Data Diri, Admin Desa, dan Surat dalam sistem layanan publik digital, memastikan interaksi dan akses data yang efisien.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686050"/>
            <a:chOff x="0" y="0"/>
            <a:chExt cx="1047951" cy="701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0180" t="0" r="-1018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5355141"/>
            <a:ext cx="4010025" cy="2686050"/>
            <a:chOff x="0" y="0"/>
            <a:chExt cx="1047951" cy="701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0" t="0" r="-4176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66750"/>
            <a:ext cx="4010025" cy="2686050"/>
            <a:chOff x="0" y="0"/>
            <a:chExt cx="1047951" cy="7019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0" t="0" r="-7569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11225" y="5355141"/>
            <a:ext cx="4010025" cy="2686050"/>
            <a:chOff x="0" y="0"/>
            <a:chExt cx="1047951" cy="7019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7951" cy="701953"/>
            </a:xfrm>
            <a:custGeom>
              <a:avLst/>
              <a:gdLst/>
              <a:ahLst/>
              <a:cxnLst/>
              <a:rect r="r" b="b" t="t" l="l"/>
              <a:pathLst>
                <a:path h="701953" w="1047951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55071" t="0" r="-550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8991600" cy="10287000"/>
            <a:chOff x="0" y="0"/>
            <a:chExt cx="1393034" cy="1593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8"/>
              <a:stretch>
                <a:fillRect l="-51694" t="0" r="-51694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0" y="170916"/>
            <a:ext cx="6047891" cy="9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1"/>
              </a:lnSpc>
              <a:spcBef>
                <a:spcPct val="0"/>
              </a:spcBef>
            </a:pPr>
            <a:r>
              <a:rPr lang="en-US" sz="6541" spc="-196">
                <a:solidFill>
                  <a:srgbClr val="F5F7F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Tampilan </a:t>
            </a:r>
            <a:r>
              <a:rPr lang="en-US" sz="6541" spc="-196" strike="noStrike" u="none">
                <a:solidFill>
                  <a:srgbClr val="F5F7F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UI/UX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96400" y="3665034"/>
            <a:ext cx="4010025" cy="1230725"/>
            <a:chOff x="0" y="0"/>
            <a:chExt cx="5346700" cy="16409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Pengguna dapat membuat akun untuk akses layanan.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Daftar Akun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6400" y="8353425"/>
            <a:ext cx="4010025" cy="1230725"/>
            <a:chOff x="0" y="0"/>
            <a:chExt cx="5346700" cy="164096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Pengguna dapat mengakses informasi layanan publik.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Informasi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11225" y="3665034"/>
            <a:ext cx="4010025" cy="1230725"/>
            <a:chOff x="0" y="0"/>
            <a:chExt cx="5346700" cy="164096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Halaman utama menampilkan layanan yang tersedia.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Beranda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11225" y="8353425"/>
            <a:ext cx="4010025" cy="1230725"/>
            <a:chOff x="0" y="0"/>
            <a:chExt cx="5346700" cy="164096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731520"/>
              <a:ext cx="5346700" cy="90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9"/>
                </a:lnSpc>
              </a:pPr>
              <a:r>
                <a:rPr lang="en-US" sz="2021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Halaman ini menampilkan semua layanan yang ditawarkan.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Produk &amp; Layanan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4998156"/>
            <a:ext cx="18264589" cy="0"/>
          </a:xfrm>
          <a:prstGeom prst="line">
            <a:avLst/>
          </a:prstGeom>
          <a:ln cap="flat" w="19050">
            <a:solidFill>
              <a:srgbClr val="1A3A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676775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91600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306425" y="4845756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3A5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Progres Proyek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1–2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722056"/>
            <a:ext cx="287655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Kebutuhan, flowchart, ERD, dan rancangan awal selesai dalam dua bulan.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6775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76775" y="5722056"/>
            <a:ext cx="287655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Diagram kasus penggunaan dan desain UI dibuat menggunakan Figma pada bulan ketiga.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1600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4–5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6425" y="3724275"/>
            <a:ext cx="28765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Bulan 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1600" y="5722056"/>
            <a:ext cx="287655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Pengcodingan untuk user dan admin dilakukan selama bulan keempat dan kelima.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6425" y="5722056"/>
            <a:ext cx="2876550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A3A5F"/>
                </a:solidFill>
                <a:latin typeface="TT Fors"/>
                <a:ea typeface="TT Fors"/>
                <a:cs typeface="TT Fors"/>
                <a:sym typeface="TT Fors"/>
              </a:rPr>
              <a:t>Fitur notifikasi diimplementasikan, diikuti dengan pengujian dan deployment pada bulan keenam.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37376" y="1255"/>
            <a:ext cx="9735067" cy="10285745"/>
            <a:chOff x="0" y="0"/>
            <a:chExt cx="1153310" cy="1218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3310" cy="1218549"/>
            </a:xfrm>
            <a:custGeom>
              <a:avLst/>
              <a:gdLst/>
              <a:ahLst/>
              <a:cxnLst/>
              <a:rect r="r" b="b" t="t" l="l"/>
              <a:pathLst>
                <a:path h="1218549" w="1153310">
                  <a:moveTo>
                    <a:pt x="0" y="0"/>
                  </a:moveTo>
                  <a:lnTo>
                    <a:pt x="1153310" y="0"/>
                  </a:lnTo>
                  <a:lnTo>
                    <a:pt x="1153310" y="1218549"/>
                  </a:lnTo>
                  <a:lnTo>
                    <a:pt x="0" y="1218549"/>
                  </a:lnTo>
                  <a:close/>
                </a:path>
              </a:pathLst>
            </a:custGeom>
            <a:blipFill>
              <a:blip r:embed="rId2"/>
              <a:stretch>
                <a:fillRect l="0" t="-11860" r="0" b="-1186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5300" y="666750"/>
            <a:ext cx="8324850" cy="7128503"/>
            <a:chOff x="0" y="0"/>
            <a:chExt cx="11099800" cy="950467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099800" cy="1877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99"/>
                </a:lnSpc>
                <a:spcBef>
                  <a:spcPct val="0"/>
                </a:spcBef>
              </a:pPr>
              <a:r>
                <a:rPr lang="en-US" sz="9299" spc="-2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Status Saat Ini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09391"/>
              <a:ext cx="11099800" cy="987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99"/>
                </a:lnSpc>
                <a:spcBef>
                  <a:spcPct val="0"/>
                </a:spcBef>
              </a:pPr>
              <a:r>
                <a:rPr lang="en-US" sz="4499" spc="-134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Desain Selesai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952441"/>
              <a:ext cx="9182100" cy="555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</a:pPr>
              <a:r>
                <a:rPr lang="en-US" sz="33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Saat ini, desain proyek </a:t>
              </a:r>
              <a:r>
                <a:rPr lang="en-US" b="true" sz="3399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sistem layanan publik digital</a:t>
              </a:r>
              <a:r>
                <a:rPr lang="en-US" sz="3399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telah selesai, dan implementasi kode program sedang berlangsung untuk mendorong kemajuan yang lebih efisien dan transparan di Desa Lohbener.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813810"/>
            <a:chOff x="0" y="0"/>
            <a:chExt cx="5346700" cy="5085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Proyek ini bertujuan untuk menciptakan </a:t>
              </a:r>
              <a:r>
                <a:rPr lang="en-US" b="true" sz="2100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layanan publik digital</a:t>
              </a: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yang efisien, meningkatkan aksesibilitas bagi warga, dan menggantikan proses manual yang memakan waktu dengan sistem yang lebih cepat dan transparan.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Tujuan Utama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813810"/>
            <a:chOff x="0" y="0"/>
            <a:chExt cx="5346700" cy="50850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Saat ini, tahapan desain </a:t>
              </a:r>
              <a:r>
                <a:rPr lang="en-US" b="true" sz="2100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sudah selesai</a:t>
              </a: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 dan kami sedang dalam proses implementasi serta pengujian sistem, memastikan setiap fitur berfungsi dengan baik sebelum diluncurkan kepada masyarakat desa.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Status Terkini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813810"/>
            <a:chOff x="0" y="0"/>
            <a:chExt cx="5346700" cy="50850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Langkah berikutnya adalah menyelesaikan fitur admin dan notifikasi, melakukan </a:t>
              </a:r>
              <a:r>
                <a:rPr lang="en-US" b="true" sz="2100">
                  <a:solidFill>
                    <a:srgbClr val="1A3A5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pengujian menyeluruh</a:t>
              </a:r>
              <a:r>
                <a:rPr lang="en-US" sz="2100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, serta melakukan uji coba lapangan di Desa Lohbener untuk memastikan sistem siap digunakan oleh warga.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Langkah Selanjutnya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Kesimpulan Proyek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Layanan Publik Digital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327910"/>
            <a:chOff x="0" y="0"/>
            <a:chExt cx="34290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Selesaikan fitur admin dan notifikasi untuk meningkatkan penggunaan sistem.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2699385"/>
            <a:chOff x="0" y="0"/>
            <a:chExt cx="3429000" cy="35991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Pengujian sistem menyeluruh dan debugging untuk memastikan kinerja optimal.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327910"/>
            <a:chOff x="0" y="0"/>
            <a:chExt cx="3429000" cy="31038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34290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Uji coba lapangan di Desa Lohbener untuk mendapatkan umpan balik warga.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2699385"/>
            <a:chOff x="0" y="0"/>
            <a:chExt cx="3429000" cy="35991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Penyusunan laporan akhir dan dokumentasi untuk menyiapkan presentasi proyek.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699385"/>
            <a:chOff x="0" y="0"/>
            <a:chExt cx="3429000" cy="35991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55700"/>
              <a:ext cx="34290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1A3A5F"/>
                  </a:solidFill>
                  <a:latin typeface="TT Fors"/>
                  <a:ea typeface="TT Fors"/>
                  <a:cs typeface="TT Fors"/>
                  <a:sym typeface="TT Fors"/>
                </a:rPr>
                <a:t>Rencanakan pelatihan bagi pegawai desa untuk penggunaan sistem baru.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1A3A5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657225"/>
            <a:ext cx="16227056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1A3A5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Ekspetasi Hasil Langkah berikutnya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49343" y="514350"/>
            <a:ext cx="12737341" cy="9258300"/>
            <a:chOff x="0" y="0"/>
            <a:chExt cx="1946881" cy="141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881" cy="1415116"/>
            </a:xfrm>
            <a:custGeom>
              <a:avLst/>
              <a:gdLst/>
              <a:ahLst/>
              <a:cxnLst/>
              <a:rect r="r" b="b" t="t" l="l"/>
              <a:pathLst>
                <a:path h="1415116" w="1946881">
                  <a:moveTo>
                    <a:pt x="0" y="0"/>
                  </a:moveTo>
                  <a:lnTo>
                    <a:pt x="1946881" y="0"/>
                  </a:lnTo>
                  <a:lnTo>
                    <a:pt x="1946881" y="1415116"/>
                  </a:lnTo>
                  <a:lnTo>
                    <a:pt x="0" y="1415116"/>
                  </a:lnTo>
                  <a:close/>
                </a:path>
              </a:pathLst>
            </a:custGeom>
            <a:blipFill>
              <a:blip r:embed="rId2"/>
              <a:stretch>
                <a:fillRect l="0" t="-129" r="0" b="-1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9737" y="0"/>
                  </a:moveTo>
                  <a:lnTo>
                    <a:pt x="2823553" y="0"/>
                  </a:lnTo>
                  <a:cubicBezTo>
                    <a:pt x="2828931" y="0"/>
                    <a:pt x="2833290" y="4359"/>
                    <a:pt x="2833290" y="9737"/>
                  </a:cubicBezTo>
                  <a:lnTo>
                    <a:pt x="2833290" y="1583989"/>
                  </a:lnTo>
                  <a:cubicBezTo>
                    <a:pt x="2833290" y="1589366"/>
                    <a:pt x="2828931" y="1593725"/>
                    <a:pt x="2823553" y="1593725"/>
                  </a:cubicBezTo>
                  <a:lnTo>
                    <a:pt x="9737" y="1593725"/>
                  </a:lnTo>
                  <a:cubicBezTo>
                    <a:pt x="4359" y="1593725"/>
                    <a:pt x="0" y="1589366"/>
                    <a:pt x="0" y="1583989"/>
                  </a:cubicBezTo>
                  <a:lnTo>
                    <a:pt x="0" y="9737"/>
                  </a:lnTo>
                  <a:cubicBezTo>
                    <a:pt x="0" y="4359"/>
                    <a:pt x="4359" y="0"/>
                    <a:pt x="973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999" r="0" b="-799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Progres Rancang Bangun Sistem</dc:description>
  <dc:identifier>DAG30Cg1f1g</dc:identifier>
  <dcterms:modified xsi:type="dcterms:W3CDTF">2011-08-01T06:04:30Z</dcterms:modified>
  <cp:revision>1</cp:revision>
  <dc:title>PPT Proyek 2 Kelompok 8</dc:title>
</cp:coreProperties>
</file>